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</a:rPr>
              <a:t>REVETING SHOW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End-to-End Production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0F4FF"/>
                </a:solidFill>
              </a:rPr>
              <a:t>From New Show Setup → Guest Booking → Email Sequence → Live Show → Post-Production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51960"/>
            <a:ext cx="2011680" cy="1188720"/>
          </a:xfrm>
          <a:prstGeom prst="rect">
            <a:avLst/>
          </a:prstGeom>
          <a:solidFill>
            <a:srgbClr val="1A4B9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A623"/>
                </a:solidFill>
              </a:rPr>
              <a:t>SHOW
SETUP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4251960"/>
            <a:ext cx="2011680" cy="1188720"/>
          </a:xfrm>
          <a:prstGeom prst="rect">
            <a:avLst/>
          </a:prstGeom>
          <a:solidFill>
            <a:srgbClr val="1A4B9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425196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A623"/>
                </a:solidFill>
              </a:rPr>
              <a:t>GUEST
BOOKING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4251960"/>
            <a:ext cx="2011680" cy="1188720"/>
          </a:xfrm>
          <a:prstGeom prst="rect">
            <a:avLst/>
          </a:prstGeom>
          <a:solidFill>
            <a:srgbClr val="1A4B9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25196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A623"/>
                </a:solidFill>
              </a:rPr>
              <a:t>EMAIL
SEQUENCE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4251960"/>
            <a:ext cx="2011680" cy="1188720"/>
          </a:xfrm>
          <a:prstGeom prst="rect">
            <a:avLst/>
          </a:prstGeom>
          <a:solidFill>
            <a:srgbClr val="1A4B9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425196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A623"/>
                </a:solidFill>
              </a:rPr>
              <a:t>LIVE
SHOW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4251960"/>
            <a:ext cx="2011680" cy="1188720"/>
          </a:xfrm>
          <a:prstGeom prst="rect">
            <a:avLst/>
          </a:prstGeom>
          <a:solidFill>
            <a:srgbClr val="1A4B9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425196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A623"/>
                </a:solidFill>
              </a:rPr>
              <a:t>POST-
PROD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150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9BB5"/>
                </a:solidFill>
              </a:rPr>
              <a:t>Based on Jessie Lizak (Reveting) LinkedIn Live &amp; Livestream Content Engine SOP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Complete Show Flow —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The end-to-end Reveting production lifecycle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34440"/>
            <a:ext cx="2834640" cy="539496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234440"/>
            <a:ext cx="2834640" cy="594360"/>
          </a:xfrm>
          <a:prstGeom prst="rect">
            <a:avLst/>
          </a:prstGeom>
          <a:solidFill>
            <a:srgbClr val="38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2344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</a:rPr>
              <a:t>TIER 1
SHOW SETUP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20240"/>
            <a:ext cx="2651760" cy="640080"/>
          </a:xfrm>
          <a:prstGeom prst="rect">
            <a:avLst/>
          </a:prstGeom>
          <a:solidFill>
            <a:srgbClr val="295AAE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0299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Show Identity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33472"/>
            <a:ext cx="2651760" cy="640080"/>
          </a:xfrm>
          <a:prstGeom prst="rect">
            <a:avLst/>
          </a:prstGeom>
          <a:solidFill>
            <a:srgbClr val="295AAE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Team Roster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46704"/>
            <a:ext cx="2651760" cy="640080"/>
          </a:xfrm>
          <a:prstGeom prst="rect">
            <a:avLst/>
          </a:prstGeom>
          <a:solidFill>
            <a:srgbClr val="295AAE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4564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Channel Stack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59936"/>
            <a:ext cx="2651760" cy="640080"/>
          </a:xfrm>
          <a:prstGeom prst="rect">
            <a:avLst/>
          </a:prstGeom>
          <a:solidFill>
            <a:srgbClr val="295AAE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1696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Podcast Links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773168"/>
            <a:ext cx="2651760" cy="640080"/>
          </a:xfrm>
          <a:prstGeom prst="rect">
            <a:avLst/>
          </a:prstGeom>
          <a:solidFill>
            <a:srgbClr val="295AAE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8828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Booking Docs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486400"/>
            <a:ext cx="2651760" cy="640080"/>
          </a:xfrm>
          <a:prstGeom prst="rect">
            <a:avLst/>
          </a:prstGeom>
          <a:solidFill>
            <a:srgbClr val="295AAE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55961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Guest 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1234440"/>
            <a:ext cx="2834640" cy="5394960"/>
          </a:xfrm>
          <a:prstGeom prst="rect">
            <a:avLst/>
          </a:prstGeom>
          <a:solidFill>
            <a:srgbClr val="1A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0" y="1234440"/>
            <a:ext cx="2834640" cy="594360"/>
          </a:xfrm>
          <a:prstGeom prst="rect">
            <a:avLst/>
          </a:prstGeom>
          <a:solidFill>
            <a:srgbClr val="38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12344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</a:rPr>
              <a:t>EPISODE
PREP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1920240"/>
            <a:ext cx="2651760" cy="640080"/>
          </a:xfrm>
          <a:prstGeom prst="rect">
            <a:avLst/>
          </a:prstGeom>
          <a:solidFill>
            <a:srgbClr val="296B59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20299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Guest Booking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2633472"/>
            <a:ext cx="2651760" cy="640080"/>
          </a:xfrm>
          <a:prstGeom prst="rect">
            <a:avLst/>
          </a:prstGeom>
          <a:solidFill>
            <a:srgbClr val="296B59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Fit Gate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3346704"/>
            <a:ext cx="2651760" cy="640080"/>
          </a:xfrm>
          <a:prstGeom prst="rect">
            <a:avLst/>
          </a:prstGeom>
          <a:solidFill>
            <a:srgbClr val="296B59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7560" y="34564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Tier 2 Variables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4059936"/>
            <a:ext cx="2651760" cy="640080"/>
          </a:xfrm>
          <a:prstGeom prst="rect">
            <a:avLst/>
          </a:prstGeom>
          <a:solidFill>
            <a:srgbClr val="296B59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41696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Topic Editing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4773168"/>
            <a:ext cx="2651760" cy="640080"/>
          </a:xfrm>
          <a:prstGeom prst="rect">
            <a:avLst/>
          </a:prstGeom>
          <a:solidFill>
            <a:srgbClr val="296B59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48828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Calendar Stage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5486400"/>
            <a:ext cx="2651760" cy="640080"/>
          </a:xfrm>
          <a:prstGeom prst="rect">
            <a:avLst/>
          </a:prstGeom>
          <a:solidFill>
            <a:srgbClr val="296B59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60" y="55961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T-14 Activation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1234440"/>
            <a:ext cx="2834640" cy="5394960"/>
          </a:xfrm>
          <a:prstGeom prst="rect">
            <a:avLst/>
          </a:prstGeom>
          <a:solidFill>
            <a:srgbClr val="4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1234440"/>
            <a:ext cx="2834640" cy="594360"/>
          </a:xfrm>
          <a:prstGeom prst="rect">
            <a:avLst/>
          </a:prstGeom>
          <a:solidFill>
            <a:srgbClr val="683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12344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</a:rPr>
              <a:t>PRE-SHOW
EMAILS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59" y="1920240"/>
            <a:ext cx="2651760" cy="640080"/>
          </a:xfrm>
          <a:prstGeom prst="rect">
            <a:avLst/>
          </a:prstGeom>
          <a:solidFill>
            <a:srgbClr val="59296B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20299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Email 1 — Event Published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59" y="2633472"/>
            <a:ext cx="2651760" cy="640080"/>
          </a:xfrm>
          <a:prstGeom prst="rect">
            <a:avLst/>
          </a:prstGeom>
          <a:solidFill>
            <a:srgbClr val="59296B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Email 2 — T-7 Days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59" y="3346704"/>
            <a:ext cx="2651760" cy="640080"/>
          </a:xfrm>
          <a:prstGeom prst="rect">
            <a:avLst/>
          </a:prstGeom>
          <a:solidFill>
            <a:srgbClr val="59296B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34564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Email 3 — Day Before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59" y="4059936"/>
            <a:ext cx="2651760" cy="640080"/>
          </a:xfrm>
          <a:prstGeom prst="rect">
            <a:avLst/>
          </a:prstGeom>
          <a:solidFill>
            <a:srgbClr val="59296B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41696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Email 4 — Day Of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59" y="4773168"/>
            <a:ext cx="2651760" cy="640080"/>
          </a:xfrm>
          <a:prstGeom prst="rect">
            <a:avLst/>
          </a:prstGeom>
          <a:solidFill>
            <a:srgbClr val="59296B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48828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Calendar Stage 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59" y="5486400"/>
            <a:ext cx="2651760" cy="640080"/>
          </a:xfrm>
          <a:prstGeom prst="rect">
            <a:avLst/>
          </a:prstGeom>
          <a:solidFill>
            <a:srgbClr val="59296B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55961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StreamYard Guest Link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5440" y="1234440"/>
            <a:ext cx="2834640" cy="5394960"/>
          </a:xfrm>
          <a:prstGeom prst="rect">
            <a:avLst/>
          </a:prstGeom>
          <a:solidFill>
            <a:srgbClr val="5C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35440" y="1234440"/>
            <a:ext cx="2834640" cy="594360"/>
          </a:xfrm>
          <a:prstGeom prst="rect">
            <a:avLst/>
          </a:prstGeom>
          <a:solidFill>
            <a:srgbClr val="7A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35440" y="12344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</a:rPr>
              <a:t>LIVE &amp;
POST-SHOW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1920240"/>
            <a:ext cx="2651760" cy="640080"/>
          </a:xfrm>
          <a:prstGeom prst="rect">
            <a:avLst/>
          </a:prstGeom>
          <a:solidFill>
            <a:srgbClr val="6B3929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72600" y="20299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Pre-show Tech Check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6880" y="2633472"/>
            <a:ext cx="2651760" cy="640080"/>
          </a:xfrm>
          <a:prstGeom prst="rect">
            <a:avLst/>
          </a:prstGeom>
          <a:solidFill>
            <a:srgbClr val="6B3929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7260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Go Live (60 min)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26880" y="3346704"/>
            <a:ext cx="2651760" cy="640080"/>
          </a:xfrm>
          <a:prstGeom prst="rect">
            <a:avLst/>
          </a:prstGeom>
          <a:solidFill>
            <a:srgbClr val="6B3929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72600" y="34564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Email 5 — Within 1h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26880" y="4059936"/>
            <a:ext cx="2651760" cy="640080"/>
          </a:xfrm>
          <a:prstGeom prst="rect">
            <a:avLst/>
          </a:prstGeom>
          <a:solidFill>
            <a:srgbClr val="6B3929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72600" y="41696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Clips Delivered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4773168"/>
            <a:ext cx="2651760" cy="640080"/>
          </a:xfrm>
          <a:prstGeom prst="rect">
            <a:avLst/>
          </a:prstGeom>
          <a:solidFill>
            <a:srgbClr val="6B3929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72600" y="48828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Email 6 — 24–36h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326880" y="5486400"/>
            <a:ext cx="2651760" cy="640080"/>
          </a:xfrm>
          <a:prstGeom prst="rect">
            <a:avLst/>
          </a:prstGeom>
          <a:solidFill>
            <a:srgbClr val="6B3929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72600" y="55961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Podcast Upload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Phase 1 — New Show Setup (Tier 1 Constants)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Complete once at show launch. Store in Google Drive root folder. Share with all team members.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325880"/>
            <a:ext cx="3931920" cy="2468880"/>
          </a:xfrm>
          <a:prstGeom prst="rect">
            <a:avLst/>
          </a:prstGeom>
          <a:solidFill>
            <a:srgbClr val="1A4B9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325880"/>
            <a:ext cx="3931920" cy="411480"/>
          </a:xfrm>
          <a:prstGeom prst="rect">
            <a:avLst/>
          </a:prstGeom>
          <a:solidFill>
            <a:srgbClr val="336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8074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5A623"/>
                </a:solidFill>
              </a:rPr>
              <a:t>Show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80136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[SHOW_NAME]  ·  [SHOW_EMAIL]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25856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[SHOW_TIMEZONE] → Eastern Time (USA)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71576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[SHOW_DAY_OF_WEEK]  ·  [SHOW_RECURRING_TIME_ET]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317296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[PRESHOW_DURATION_MIN] = 15  ·  [SHOW_DURATION_MIN] = 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25880"/>
            <a:ext cx="3931920" cy="2468880"/>
          </a:xfrm>
          <a:prstGeom prst="rect">
            <a:avLst/>
          </a:prstGeom>
          <a:solidFill>
            <a:srgbClr val="1A4B9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325880"/>
            <a:ext cx="3931920" cy="411480"/>
          </a:xfrm>
          <a:prstGeom prst="rect">
            <a:avLst/>
          </a:prstGeom>
          <a:solidFill>
            <a:srgbClr val="336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138074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5A623"/>
                </a:solidFill>
              </a:rPr>
              <a:t>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180136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[HOST_NAME]  ·  [HOST_LINKEDIN_URL]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25856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[PRODUCER_NAME]  ·  [PRODUCTION_ASSISTANT_NAME]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271576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[SIGNATURE_BLOCK] — full email sign-off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317296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[CALENDAR_ACCOUNT] = ww@reveting.com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9" y="1325880"/>
            <a:ext cx="3931920" cy="2468880"/>
          </a:xfrm>
          <a:prstGeom prst="rect">
            <a:avLst/>
          </a:prstGeom>
          <a:solidFill>
            <a:srgbClr val="1A5C4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599" y="1325880"/>
            <a:ext cx="3931920" cy="411480"/>
          </a:xfrm>
          <a:prstGeom prst="rect">
            <a:avLst/>
          </a:prstGeom>
          <a:solidFill>
            <a:srgbClr val="337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9" y="138074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5A623"/>
                </a:solidFill>
              </a:rPr>
              <a:t>Channel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180136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[STREAM_TO_LINKEDIN]  ·  [STREAM_TO_YOUTUBE]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25856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[STREAM_TO_FACEBOOK]  ·  [STREAM_TO_TWITCH]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71576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[STREAM_TO_INSTAGRAM]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317296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⚠ Confirm against Total Deliverables Doc — NEVER guess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886200"/>
            <a:ext cx="3931920" cy="2468880"/>
          </a:xfrm>
          <a:prstGeom prst="rect">
            <a:avLst/>
          </a:prstGeom>
          <a:solidFill>
            <a:srgbClr val="1A5C4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" y="3886200"/>
            <a:ext cx="3931920" cy="411480"/>
          </a:xfrm>
          <a:prstGeom prst="rect">
            <a:avLst/>
          </a:prstGeom>
          <a:solidFill>
            <a:srgbClr val="337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941063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5A623"/>
                </a:solidFill>
              </a:rPr>
              <a:t>Podcast &amp; Replay Links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" y="436168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[SPOTIFY_SHOW_LINK]  ·  [APPLE_PODCASTS_SHOW_LINK]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" y="481888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[YOUTUBE_CHANNEL_LINK]  ·  [SHOW_WEBSITE_LINK]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" y="527608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[PAST_EPISODES_LINK]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" y="573328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886200"/>
            <a:ext cx="3931920" cy="2468880"/>
          </a:xfrm>
          <a:prstGeom prst="rect">
            <a:avLst/>
          </a:prstGeom>
          <a:solidFill>
            <a:srgbClr val="4A1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06240" y="3886200"/>
            <a:ext cx="3931920" cy="411480"/>
          </a:xfrm>
          <a:prstGeom prst="rect">
            <a:avLst/>
          </a:prstGeom>
          <a:solidFill>
            <a:srgbClr val="63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79" y="3941063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5A623"/>
                </a:solidFill>
              </a:rPr>
              <a:t>Booking &amp; Docs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436168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[BOOKING_FORM_LINK]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481888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[TOTAL_DELIVERABLES_DOC]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5968" y="527608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[STREAMYARD_ACCOUNT_URL]  ·  [CLIENT_OUTLINE_LINK]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5968" y="573328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[GOOGLE_DRIVE_ROOT_FOLDER]  ·  [LINKEDIN_INVITE_WALKTHROUGH_URL]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599" y="3886200"/>
            <a:ext cx="3931920" cy="2468880"/>
          </a:xfrm>
          <a:prstGeom prst="rect">
            <a:avLst/>
          </a:prstGeom>
          <a:solidFill>
            <a:srgbClr val="4A1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599" y="3886200"/>
            <a:ext cx="3931920" cy="411480"/>
          </a:xfrm>
          <a:prstGeom prst="rect">
            <a:avLst/>
          </a:prstGeom>
          <a:solidFill>
            <a:srgbClr val="63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39" y="3941063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5A623"/>
                </a:solidFill>
              </a:rPr>
              <a:t>Guest Qualification Rules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7" y="436168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[MIN_LINKEDIN_FOLLOWERS]: 5,000+ preferred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7" y="481888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1,000–4,999: confirm with Prod + Marketing Lead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9327" y="527608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Below 1,000: NO-GO unless no other option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7" y="5733288"/>
            <a:ext cx="3730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[SHOW_CONTENT_PILLARS]  ·  Escalation → WhatsApp Jessie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Phase 2 — Guest Booking &amp; Fit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New booking appears in app.reveting.com → complete Tier 2 → make fit decision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5303520" cy="521208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</a:rPr>
              <a:t>BOOKING INTAKE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5120640" cy="566928"/>
          </a:xfrm>
          <a:prstGeom prst="rect">
            <a:avLst/>
          </a:prstGeom>
          <a:solidFill>
            <a:srgbClr val="1F3B7A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80136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0136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Find the Booking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0391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Calendars → Appointment List View → newest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5120640" cy="566928"/>
          </a:xfrm>
          <a:prstGeom prst="rect">
            <a:avLst/>
          </a:prstGeom>
          <a:solidFill>
            <a:srgbClr val="1F3B7A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24414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44144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Pull Form Submission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67919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Click guest → 3 dots → View Details → Form Submission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63239"/>
            <a:ext cx="5120640" cy="566928"/>
          </a:xfrm>
          <a:prstGeom prst="rect">
            <a:avLst/>
          </a:prstGeom>
          <a:solidFill>
            <a:srgbClr val="1F3B7A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3081527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081527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Complete Tier 2 Guest Info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3192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[GUEST_FIRST_NAME], [GUEST_EMAIL], [GUEST_LINKEDIN_URL], etc.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5120640" cy="566928"/>
          </a:xfrm>
          <a:prstGeom prst="rect">
            <a:avLst/>
          </a:prstGeom>
          <a:solidFill>
            <a:srgbClr val="1F3B7A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3721607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721607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Check LinkedIn Followers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39593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Manual LinkedIn lookup → compare to [MIN_LINKEDIN_FOLLOWERS]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43400"/>
            <a:ext cx="5120640" cy="566928"/>
          </a:xfrm>
          <a:prstGeom prst="rect">
            <a:avLst/>
          </a:prstGeom>
          <a:solidFill>
            <a:srgbClr val="1F3B7A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436168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36168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Edit Topics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45994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Format raw submissions to 3–7 words · aligned to show strategy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83480"/>
            <a:ext cx="5120640" cy="566928"/>
          </a:xfrm>
          <a:prstGeom prst="rect">
            <a:avLst/>
          </a:prstGeom>
          <a:solidFill>
            <a:srgbClr val="1F3B7A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500176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500176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Set Episode Details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52395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[EPISODE_NUMBER], [EPISODE_DATE], [EPISODE_TITLE], [TOPIC_1–4]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5120640" cy="566928"/>
          </a:xfrm>
          <a:prstGeom prst="rect">
            <a:avLst/>
          </a:prstGeom>
          <a:solidFill>
            <a:srgbClr val="1F3B7A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" y="56418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564184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Calendar Description Stage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8795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Set immediately · include placeholder timing text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1280160"/>
            <a:ext cx="6217920" cy="521208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0" y="1325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</a:rPr>
              <a:t>FIT GATE DECISION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1920240"/>
            <a:ext cx="2926080" cy="914400"/>
          </a:xfrm>
          <a:prstGeom prst="rect">
            <a:avLst/>
          </a:prstGeom>
          <a:solidFill>
            <a:srgbClr val="1A5C4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19202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LinkedIn followers
≥ 5,000?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60" y="3108960"/>
            <a:ext cx="2377440" cy="685800"/>
          </a:xfrm>
          <a:prstGeom prst="rect">
            <a:avLst/>
          </a:prstGeom>
          <a:solidFill>
            <a:srgbClr val="1EA5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52160" y="310896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✓  FIT
Proceed with booking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49640" y="3108960"/>
            <a:ext cx="3200400" cy="685800"/>
          </a:xfrm>
          <a:prstGeom prst="rect">
            <a:avLst/>
          </a:prstGeom>
          <a:solidFill>
            <a:srgbClr val="B8761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9640" y="31089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⚠  1,000–4,999
Confirm with Prod + Mktg Lead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4206240"/>
            <a:ext cx="2926080" cy="685800"/>
          </a:xfrm>
          <a:prstGeom prst="rect">
            <a:avLst/>
          </a:prstGeom>
          <a:solidFill>
            <a:srgbClr val="D93B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420624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✗  NOT A FIT
&lt; 1,000 followers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5120640"/>
            <a:ext cx="5852160" cy="1005840"/>
          </a:xfrm>
          <a:prstGeom prst="rect">
            <a:avLst/>
          </a:prstGeom>
          <a:solidFill>
            <a:srgbClr val="5C1A1A"/>
          </a:solidFill>
          <a:ln w="12700">
            <a:solidFill>
              <a:srgbClr val="D9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5166360"/>
            <a:ext cx="5669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Send "Not a Fit" Email
[SHOW_NAME] · [SIGNATURE_BLOCK] · [GUEST_FIRST_NAME] · [FALLBACK_SHOW_LINKS]
→ STOP. Do not continue to booking.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2834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A56B"/>
                </a:solidFill>
              </a:rPr>
              <a:t>YES 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2834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⚠ 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5661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3B3B"/>
                </a:solidFill>
              </a:rPr>
              <a:t>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Phase 3 — T-14 Activation &amp; Calendar Stage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Guest is a fit → send T-14 activation immediately if booking is within 14 days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5486400" cy="5212080"/>
          </a:xfrm>
          <a:prstGeom prst="rect">
            <a:avLst/>
          </a:prstGeom>
          <a:solidFill>
            <a:srgbClr val="2A1A4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25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T-14 ACTIVATION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556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</a:rPr>
              <a:t>Trigger: 14 days before show (or immediately if &lt; 14 days away)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488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Required Tier 1: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488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[SIGNATURE_BLOCK]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4231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Required Tier 2: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4231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[GUEST_FIRST_NAME]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69747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Subject: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69747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Confirming your appearance on [SHOW_NAME]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97179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24611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Email opens: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24611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Hi [GUEST_FIRST_NAME],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52043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We're excited to have you on [SHOW_NAME]!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79475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06907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Includes: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06907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• Confirm show date +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34339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• Request LinkedIn connection with [LINKEDIN_CHANNEL_OWNER]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61771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• Link to past episodes for 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89203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• Explain topic editing 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16635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• Note: topics will be formatted &amp; emailed soon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44067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71499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Sign-off: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5714999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[SIGNATURE_BLOCK]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1280160"/>
            <a:ext cx="6035040" cy="5212080"/>
          </a:xfrm>
          <a:prstGeom prst="rect">
            <a:avLst/>
          </a:prstGeom>
          <a:solidFill>
            <a:srgbClr val="1A3A5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13258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CALENDAR DESCRIPTION — STAGE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17556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F4FF"/>
                </a:solidFill>
              </a:rPr>
              <a:t>Set immediately when booking is created in ww@reveting.com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53328" y="2148840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Event Name: [SHOW_NAME] with [GUEST_FIRST_NAME] [GUEST_LAST_NAME]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53328" y="2386584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Location: StreamYard URL TBD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53328" y="2624328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53328" y="2862072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Thank you for submitting your topics. We will format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3328" y="3099815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them to fit the show and email them shortly.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53328" y="3337559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8" y="3575303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Promote the Event: We will share a LinkedIn event URL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53328" y="3813047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and ask you and your team to invite their connections.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53328" y="4050791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8" y="4288535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Please connect with [LINKEDIN_CHANNEL_OWNER] on LinkedIn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3328" y="4526279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so they can make you the guest speaker.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53328" y="4764023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53328" y="5001767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Logistics: Login to StreamYard 15 min early 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328" y="5239511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[PRESHOW_TIME_ET] / [PRESHOW_TIME_CT] / [PRESHOW_TIME_PT]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53328" y="5477255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Go live: [GOLIVE_TIME_ET] / [GOLIVE_TIME_CT] / [GOLIVE_TIME_PT]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53328" y="5714999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53328" y="5952743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>━━━━━━━━━━━━━━━━━━━━━━━━━━━━━━━━━━━━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53328" y="6190487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A623"/>
                </a:solidFill>
              </a:rPr>
              <a:t>⚠ Preserve original booking form submission at bottom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53328" y="6428231"/>
            <a:ext cx="5715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   — NEVER remove this block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Phase 4 — Email 1: Appearance Details (Event Published)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Trigger: Production + Marketing Lead has published the event on all platforms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11795760" cy="59436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25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A623"/>
                </a:solidFill>
              </a:rPr>
              <a:t>This is the MOST VARIABLE-HEAVY email. All Tier 2 episode details + links must be complete before sending.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965960"/>
            <a:ext cx="5669280" cy="4572000"/>
          </a:xfrm>
          <a:prstGeom prst="rect">
            <a:avLst/>
          </a:prstGeom>
          <a:solidFill>
            <a:srgbClr val="122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0116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</a:rPr>
              <a:t>REQUIRED VARIABLES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50592"/>
            <a:ext cx="5486400" cy="548640"/>
          </a:xfrm>
          <a:prstGeom prst="rect">
            <a:avLst/>
          </a:prstGeom>
          <a:solidFill>
            <a:srgbClr val="1A386A"/>
          </a:solidFill>
          <a:ln w="6350">
            <a:solidFill>
              <a:srgbClr val="2A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4780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A623"/>
                </a:solidFill>
              </a:rPr>
              <a:t>Tier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478024"/>
            <a:ext cx="4389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[SHOW_NAME]  ·  [SIGNATURE_BLOCK]  ·  [LINKEDIN_INVITE_WALKTHROUGH_URL]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44952"/>
            <a:ext cx="5486400" cy="548640"/>
          </a:xfrm>
          <a:prstGeom prst="rect">
            <a:avLst/>
          </a:prstGeom>
          <a:solidFill>
            <a:srgbClr val="1A386A"/>
          </a:solidFill>
          <a:ln w="6350">
            <a:solidFill>
              <a:srgbClr val="2A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07238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A623"/>
                </a:solidFill>
              </a:rPr>
              <a:t>Guest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072384"/>
            <a:ext cx="4389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[GUEST_FIRST_NAME]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39312"/>
            <a:ext cx="5486400" cy="548640"/>
          </a:xfrm>
          <a:prstGeom prst="rect">
            <a:avLst/>
          </a:prstGeom>
          <a:solidFill>
            <a:srgbClr val="1A386A"/>
          </a:solidFill>
          <a:ln w="6350">
            <a:solidFill>
              <a:srgbClr val="2A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66674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A623"/>
                </a:solidFill>
              </a:rPr>
              <a:t>Episode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3666744"/>
            <a:ext cx="4389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[EPISODE_DATE]  ·  [EPISODE_TITLE]  ·  [TOPIC_1]  ·  [TOPIC_2]  ·  [TOPIC_3]  ·  [TOPIC_4]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33672"/>
            <a:ext cx="5486400" cy="548640"/>
          </a:xfrm>
          <a:prstGeom prst="rect">
            <a:avLst/>
          </a:prstGeom>
          <a:solidFill>
            <a:srgbClr val="1A386A"/>
          </a:solidFill>
          <a:ln w="6350">
            <a:solidFill>
              <a:srgbClr val="2A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26110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A623"/>
                </a:solidFill>
              </a:rPr>
              <a:t>Timing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261104"/>
            <a:ext cx="4389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[PRESHOW_TIME_PT/CT/ET]  ·  [GOLIVE_TIME_PT/CT/ET]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28032"/>
            <a:ext cx="5486400" cy="548640"/>
          </a:xfrm>
          <a:prstGeom prst="rect">
            <a:avLst/>
          </a:prstGeom>
          <a:solidFill>
            <a:srgbClr val="1A386A"/>
          </a:solidFill>
          <a:ln w="6350">
            <a:solidFill>
              <a:srgbClr val="2A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8554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A623"/>
                </a:solidFill>
              </a:rPr>
              <a:t>Links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855464"/>
            <a:ext cx="4389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[STREAMYARD_GUEST_LINK]  (fresh — never reused!)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422392"/>
            <a:ext cx="5486400" cy="548640"/>
          </a:xfrm>
          <a:prstGeom prst="rect">
            <a:avLst/>
          </a:prstGeom>
          <a:solidFill>
            <a:srgbClr val="1A386A"/>
          </a:solidFill>
          <a:ln w="6350">
            <a:solidFill>
              <a:srgbClr val="2A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4498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A623"/>
                </a:solidFill>
              </a:rPr>
              <a:t>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5449824"/>
            <a:ext cx="4389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[LINKEDIN_EVENT_URL]  ·  [YOUTUBE_EVENT_URL]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016752"/>
            <a:ext cx="5486400" cy="548640"/>
          </a:xfrm>
          <a:prstGeom prst="rect">
            <a:avLst/>
          </a:prstGeom>
          <a:solidFill>
            <a:srgbClr val="1A386A"/>
          </a:solidFill>
          <a:ln w="6350">
            <a:solidFill>
              <a:srgbClr val="2A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04418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A623"/>
                </a:solidFill>
              </a:rPr>
              <a:t>Events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872" y="6044184"/>
            <a:ext cx="4389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[FACEBOOK_EVENT_URL]  ·  [TWITCH_EVENT_URL]  ·  [INSTAGRAM_CHANNEL_URL]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1965960"/>
            <a:ext cx="6035040" cy="4572000"/>
          </a:xfrm>
          <a:prstGeom prst="rect">
            <a:avLst/>
          </a:prstGeom>
          <a:solidFill>
            <a:srgbClr val="2A1A4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20116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</a:rPr>
              <a:t>EMAIL CONTENT SUMMARY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2450592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A623"/>
                </a:solidFill>
              </a:rPr>
              <a:t>Subject: You're confirmed for [SHOW_NAME]! Here are your details.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670048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2889504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Hi [GUEST_FIRST_NAME],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108960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328416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Your episode details: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547872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• Date: [EPISODE_DATE]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3767328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• Title: [EPISODE_TITLE]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986784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• Topics: [TOPIC_1], [TOPIC_2], [TOPIC_3], [TOPIC_4]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206240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• Pre-show: [PRESHOW_TIME_PT] / [PRESHOW_TIME_CT] / [PRESHOW_TIME_ET]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425696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• Go live: [GOLIVE_TIME_PT] / [GOLIVE_TIME_CT] / [GOLIVE_TIME_ET]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645152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• StreamYard (recording studio): [STREAMYARD_GUEST_LINK]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864608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084064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Promo links (share with your audience!):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5303520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• LinkedIn: [LINKEDIN_EVENT_URL]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5522976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• YouTube: [YOUTUBE_EVENT_URL]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5742432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• Facebook: [FACEBOOK_EVENT_URL]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5961888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6181344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LinkedIn invite walkthrough: [LINKEDIN_INVITE_WALKTHROUGH_URL]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6400800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6620256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[SIGNATURE_BLOCK]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Phase 4 (cont.) — Pre-Show Email Cadence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Email 2 at T-7 · Email 3 day before · Email 4 morning of show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3840480" cy="5349240"/>
          </a:xfrm>
          <a:prstGeom prst="rect">
            <a:avLst/>
          </a:prstGeom>
          <a:solidFill>
            <a:srgbClr val="1A3A6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280160"/>
            <a:ext cx="3840480" cy="502920"/>
          </a:xfrm>
          <a:prstGeom prst="rect">
            <a:avLst/>
          </a:prstGeom>
          <a:solidFill>
            <a:srgbClr val="385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984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</a:rPr>
              <a:t>Email 2 — One Week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Trigger: T-7 days before show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76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Required Tier 1: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4231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[SHOW_NAME]  ·  [SIGNATURE_BLOCK]
[LINKEDIN_INVITE_WALKTHROUGH_URL]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090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Required Tier 2: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3375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[GUEST_FIRST_NAME]  ·  [EPISODE_DATE]
[PRESHOW_TIME_ET]  ·  [GOLIVE_TIME_ET]
[LINKEDIN_EVENT_URL]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343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Key Purpose: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57200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Remind guest to invite LinkedIn connections to the event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8808" y="1280160"/>
            <a:ext cx="3840480" cy="5349240"/>
          </a:xfrm>
          <a:prstGeom prst="rect">
            <a:avLst/>
          </a:prstGeom>
          <a:solidFill>
            <a:srgbClr val="2A1A5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78808" y="1280160"/>
            <a:ext cx="3840480" cy="502920"/>
          </a:xfrm>
          <a:prstGeom prst="rect">
            <a:avLst/>
          </a:prstGeom>
          <a:solidFill>
            <a:srgbClr val="483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12984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</a:rPr>
              <a:t>Email 3 — Day Before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Trigger: T-1 day before show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2176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Required Tier 1: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24231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[SHOW_NAME]  ·  [HOST_NAME]  ·  [PRODUCER_NAME]
[SIGNATURE_BLOCK]  ·  [PAST_EPISODES_LINK]
[LINKEDIN_INVITE_WALKTHROUGH_URL]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3090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Required Tier 2: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33375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[GUEST_FIRST_NAME]
[PRESHOW_TIME_PT/CT/ET]
[GOLIVE_TIME_PT/CT/ET]
[STREAMYARD_GUEST_LINK]
[LINKEDIN_EVENT_URL]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4343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Key Purpose: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457200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Send StreamYard link again · Time zones all 3 · Hype episode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4736" y="1280160"/>
            <a:ext cx="3840480" cy="5349240"/>
          </a:xfrm>
          <a:prstGeom prst="rect">
            <a:avLst/>
          </a:prstGeom>
          <a:solidFill>
            <a:srgbClr val="1A3A2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74736" y="1280160"/>
            <a:ext cx="3840480" cy="502920"/>
          </a:xfrm>
          <a:prstGeom prst="rect">
            <a:avLst/>
          </a:prstGeom>
          <a:solidFill>
            <a:srgbClr val="385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6" y="12984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</a:rPr>
              <a:t>Email 4 — Day Of Show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6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Trigger: Morning of show (2–4 hrs before pre-show)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2176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Required Tier 1: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24231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[SHOW_NAME]  ·  [SIGNATURE_BLOCK]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6" y="3090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Required Tier 2: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33375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[GUEST_FIRST_NAME]
[STREAMYARD_GUEST_LINK]
[PRESHOW_TIME_PT/CT/ET]
[GOLIVE_TIME_PT/CT/ET]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4343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Key Purpose: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457200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Final reminder with StreamYard link · All 3 time zones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Phase 4 (cont.) — Calendar Stage 2 &amp; StreamYard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After Production + Marketing Lead publishes the event — update calendar + generate fresh StreamYard link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5943600" cy="5303520"/>
          </a:xfrm>
          <a:prstGeom prst="rect">
            <a:avLst/>
          </a:prstGeom>
          <a:solidFill>
            <a:srgbClr val="122A5C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258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CALENDAR DESCRIPTION — STAGE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0992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Replace Stage 1 placeholder text. Preserve original booking submission at bottom.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299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Event Name: [SHOW_NAME] with [GUEST_FIRST_NAME] [GUEST_LAST_NAME]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585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📅 [SHOW_NAME] with [GUEST_FIRST_NAME] [GUEST_LAST_NAME]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4871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🗓 [EPISODE_DATE]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7157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🕚 [PRESHOW_TIME_ET] Pre-Show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9443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🕛 [GOLIVE_TIME_ET] Livestream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1729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4015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Login (recording studio): [STREAMYARD_GUEST_LINK]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6301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Guest: [GUEST_FIRST_NAME] [GUEST_LAST_NAME]: [GUEST_LINKEDIN_URL]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8587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Episode title: [EPISODE_TITLE]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0873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3159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Topics: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5445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1. [TOPIC_1]   2. [TOPIC_2]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7731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3. [TOPIC_3]   4. [TOPIC_4]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0017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2303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Script: [EPISODE_SCRIPT_LINK]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4589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LinkedIn: [LINKEDIN_EVENT_URL]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6875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YouTube: [YOUTUBE_EVENT_URL]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9161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Facebook: [FACEBOOK_EVENT_URL]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1447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A9BB5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373368"/>
            <a:ext cx="5760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93B3B"/>
                </a:solidFill>
              </a:rPr>
              <a:t>⚠ NEVER remove original guest booking submission from bottom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280160"/>
            <a:ext cx="5577840" cy="5303520"/>
          </a:xfrm>
          <a:prstGeom prst="rect">
            <a:avLst/>
          </a:prstGeom>
          <a:solidFill>
            <a:srgbClr val="1A3A2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STREAMYARD PRE-SHOW SETUP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1783080"/>
            <a:ext cx="5303520" cy="749808"/>
          </a:xfrm>
          <a:prstGeom prst="rect">
            <a:avLst/>
          </a:prstGeom>
          <a:solidFill>
            <a:srgbClr val="123020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181965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</a:rPr>
              <a:t>Generate Guest Link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05740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Fresh per episode — never reuse
Set in StreamYard → Invite → Guest Link
Paste into [STREAMYARD_GUEST_LINK]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2606040"/>
            <a:ext cx="5303520" cy="749808"/>
          </a:xfrm>
          <a:prstGeom prst="rect">
            <a:avLst/>
          </a:prstGeom>
          <a:solidFill>
            <a:srgbClr val="123020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264261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</a:rPr>
              <a:t>Scene Library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288036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6 scenes: Pre-show · Full Screen Guest
Split Screen · Lower Third · Break
End Card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429000"/>
            <a:ext cx="5303520" cy="749808"/>
          </a:xfrm>
          <a:prstGeom prst="rect">
            <a:avLst/>
          </a:prstGeom>
          <a:solidFill>
            <a:srgbClr val="123020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46557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</a:rPr>
              <a:t>Brand Kit Active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70332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Logo · Background · Colors loaded
Overlay confirmed on all scenes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4251960"/>
            <a:ext cx="5303520" cy="749808"/>
          </a:xfrm>
          <a:prstGeom prst="rect">
            <a:avLst/>
          </a:prstGeom>
          <a:solidFill>
            <a:srgbClr val="123020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428853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</a:rPr>
              <a:t>Destinations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52628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LinkedIn Live · YouTube Live
Facebook Live · Twitch · Instagram
(confirm against channel stack)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5074920"/>
            <a:ext cx="5303520" cy="749808"/>
          </a:xfrm>
          <a:prstGeom prst="rect">
            <a:avLst/>
          </a:prstGeom>
          <a:solidFill>
            <a:srgbClr val="123020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511149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</a:rPr>
              <a:t>Pre-Show Checklist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34924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Guest camera check · mic levels
Lighting · show guest how to stream
to their own LinkedIn/social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5897880"/>
            <a:ext cx="5303520" cy="749808"/>
          </a:xfrm>
          <a:prstGeom prst="rect">
            <a:avLst/>
          </a:prstGeom>
          <a:solidFill>
            <a:srgbClr val="123020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593445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</a:rPr>
              <a:t>Run-of-Show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617220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15 min pre-show → Go Live at [GOLIVE_TIME_ET]
Host opens · intro guest · 3 topics
CTA → outro → record auto-saves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Phase 5 &amp; 6 — Live Show, Email 5 (1h SLA) &amp; Email 6 (36h SLA)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Hard SLAs: Email 5 within 1 hour of show end · Email 6 max 36 hours after show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3474720" cy="5349240"/>
          </a:xfrm>
          <a:prstGeom prst="rect">
            <a:avLst/>
          </a:prstGeom>
          <a:solidFill>
            <a:srgbClr val="1A4B9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LIVE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1051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Pre-Show (T-15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8483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→ Tech check: cam / mic / lighting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35915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→ Show guest how to stream to their LinkedIn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63347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→ Confirm all social destinations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90779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18211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Go Live at [GOLIVE_TIME_ET]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45643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→ Host opens (1–2 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73075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→ Guest intro (2–3 min)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00507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→ Topic 1 · Topic 2 · Topic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27939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→ Optional Topic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55371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→ Guru of the Week mention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82803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→ CTA → Outro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10235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37667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Show 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65099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→ StreamYard auto-saves recording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92531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</a:rPr>
              <a:t>→ Clock starts on Email 5 SLA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19963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→ Video editors notified (24h SLA)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1280160"/>
            <a:ext cx="3931920" cy="5349240"/>
          </a:xfrm>
          <a:prstGeom prst="rect">
            <a:avLst/>
          </a:prstGeom>
          <a:solidFill>
            <a:srgbClr val="1A5C2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13258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</a:rPr>
              <a:t>EMAIL 5 — IMMEDIATE POST-SHOW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1691640"/>
            <a:ext cx="3931920" cy="347472"/>
          </a:xfrm>
          <a:prstGeom prst="rect">
            <a:avLst/>
          </a:prstGeom>
          <a:solidFill>
            <a:srgbClr val="1E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171907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⏱ SLA: Within 1 HOUR of show 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21488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A623"/>
                </a:solidFill>
              </a:rPr>
              <a:t>Tier 1: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2148840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[SIGNATURE_BLOCK]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24231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A623"/>
                </a:solidFill>
              </a:rPr>
              <a:t>Tier 2: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2423160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[GUEST_FIRST_NAME]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269747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A623"/>
                </a:solidFill>
              </a:rPr>
              <a:t>Links: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3168" y="2697479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[AI_CLIPS_DRIVE_LINK]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3168" y="2971799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[FULL_RECORDING_LINK]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3168" y="3246119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[TRANSCRIPT_LINK]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324612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Content: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547872"/>
            <a:ext cx="37490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Hi [GUEST_FIRST_NAME],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3776472"/>
            <a:ext cx="37490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4005072"/>
            <a:ext cx="37490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Thank you for joining us! Here are your assets: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4233672"/>
            <a:ext cx="37490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• AI clips (drive): [AI_CLIPS_DRIVE_LINK]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0" y="4462272"/>
            <a:ext cx="37490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• Full recording: [FULL_RECORDING_LINK]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4690872"/>
            <a:ext cx="37490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• Transcript: [TRANSCRIPT_LINK]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4919472"/>
            <a:ext cx="37490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5148072"/>
            <a:ext cx="37490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Human-edited clips + podcast links coming soon.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5376672"/>
            <a:ext cx="37490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5605272"/>
            <a:ext cx="37490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[SIGNATURE_BLOCK]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55279" y="1280160"/>
            <a:ext cx="4023360" cy="5349240"/>
          </a:xfrm>
          <a:prstGeom prst="rect">
            <a:avLst/>
          </a:prstGeom>
          <a:solidFill>
            <a:srgbClr val="3A1A5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0" y="13258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</a:rPr>
              <a:t>EMAIL 6 — ASSETS 24–36h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79" y="1691640"/>
            <a:ext cx="4023360" cy="34747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01000" y="17190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⏱ SLA: 24–36h MAX after show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21488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A623"/>
                </a:solidFill>
              </a:rPr>
              <a:t>Tier 1: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87968" y="2148840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[SHOW_NAME]  ·  [SIGNATURE_BLOCK]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24231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A623"/>
                </a:solidFill>
              </a:rPr>
              <a:t>Tier 2: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87968" y="2423160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[GUEST_FIRST_NAME]  ·  [EPISODE_TITLE]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87968" y="2697479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[SEGMENT_TITLE]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20" y="297179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5A623"/>
                </a:solidFill>
              </a:rPr>
              <a:t>Links: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87968" y="2971799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[SPOTIFY_EPISODE_LINK]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87968" y="3246119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[APPLE_EPISODE_LINK]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87968" y="3520439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[HUMAN_EDITED_CLIPS_LINK]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87968" y="3794759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[LINKEDIN_EVENT_URL]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87968" y="4069079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[YOUTUBE_EVENT_URL]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20" y="425196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Content: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0" y="4544568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Hi [GUEST_FIRST_NAME],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46720" y="4773168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0" y="5001768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Your edited assets are ready!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46720" y="5230368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• Human clips: [HUMAN_EDITED_CLIPS_LINK]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6720" y="5458968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• Spotify: [SPOTIFY_EPISODE_LINK]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20" y="5687568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• Apple Podcasts: [APPLE_EPISODE_LINK]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46720" y="5916168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• LinkedIn replay: [LINKEDIN_EVENT_URL]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6144768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• YouTube replay: [YOUTUBE_EVENT_URL]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46720" y="6373368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/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46720" y="6601968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[SIGNATURE_BLOCK]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Go High Level — Guest Pipeline &amp; Automation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app.reveting.com · All guests tracked through 6-stage pipeline · 4 automation workflows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1874519" cy="1097280"/>
          </a:xfrm>
          <a:prstGeom prst="rect">
            <a:avLst/>
          </a:prstGeom>
          <a:solidFill>
            <a:srgbClr val="1A4B9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137160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New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0F4FF"/>
                </a:solidFill>
              </a:rPr>
              <a:t>Booking arrives in GHL
Check daily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2264" y="16916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325880"/>
            <a:ext cx="1874519" cy="1097280"/>
          </a:xfrm>
          <a:prstGeom prst="rect">
            <a:avLst/>
          </a:prstGeom>
          <a:solidFill>
            <a:srgbClr val="7A5A0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3432" y="137160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Fit Check
Pending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0F4FF"/>
                </a:solidFill>
              </a:rPr>
              <a:t>LinkedIn check
Waiting for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3944" y="16916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325880"/>
            <a:ext cx="1874519" cy="1097280"/>
          </a:xfrm>
          <a:prstGeom prst="rect">
            <a:avLst/>
          </a:prstGeom>
          <a:solidFill>
            <a:srgbClr val="1A5C2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137160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Tier 2
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0F4FF"/>
                </a:solidFill>
              </a:rPr>
              <a:t>All variables filled
Topics edited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16916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325880"/>
            <a:ext cx="1874519" cy="1097280"/>
          </a:xfrm>
          <a:prstGeom prst="rect">
            <a:avLst/>
          </a:prstGeom>
          <a:solidFill>
            <a:srgbClr val="2A1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37160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Event
Published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0F4FF"/>
                </a:solidFill>
              </a:rPr>
              <a:t>Calendar Stage 2
Email 1 sent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16916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1325880"/>
            <a:ext cx="1874519" cy="1097280"/>
          </a:xfrm>
          <a:prstGeom prst="rect">
            <a:avLst/>
          </a:prstGeom>
          <a:solidFill>
            <a:srgbClr val="5C2A1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137160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Show
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0F4FF"/>
                </a:solidFill>
              </a:rPr>
              <a:t>Emails 5 &amp; 6 sent
Assets delivered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58984" y="16916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87000" y="1325880"/>
            <a:ext cx="1874519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0152" y="137160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Archived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2" y="18288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0F4FF"/>
                </a:solidFill>
              </a:rPr>
              <a:t>All done
Record preserved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70664" y="16916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60604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AUTOMATION WORKFLOWS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3017520"/>
            <a:ext cx="2880360" cy="3611880"/>
          </a:xfrm>
          <a:prstGeom prst="rect">
            <a:avLst/>
          </a:prstGeom>
          <a:solidFill>
            <a:srgbClr val="122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2880" y="3017520"/>
            <a:ext cx="2880360" cy="475488"/>
          </a:xfrm>
          <a:prstGeom prst="rect">
            <a:avLst/>
          </a:prstGeom>
          <a:solidFill>
            <a:srgbClr val="2B4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30449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</a:rPr>
              <a:t>Workflow 1
Guest Confirmation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3547872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Trigger: Booking form submitted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4096511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Action: Move to 'New Booking' stage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645151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Action: Send T-14 Activation email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5193791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Action: Add 'new-booking' tag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5742431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Action: Assign PA task: complete Tier 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017520"/>
            <a:ext cx="2880360" cy="3611880"/>
          </a:xfrm>
          <a:prstGeom prst="rect">
            <a:avLst/>
          </a:prstGeom>
          <a:solidFill>
            <a:srgbClr val="1A3A5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0" y="3017520"/>
            <a:ext cx="2880360" cy="475488"/>
          </a:xfrm>
          <a:prstGeom prst="rect">
            <a:avLst/>
          </a:prstGeom>
          <a:solidFill>
            <a:srgbClr val="335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0" y="30449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</a:rPr>
              <a:t>Workflow 2
Show-Day Reminders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3547872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Trigger: Appointment date − 1 day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4096511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Action: Send Email 3 (Day Before)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4645151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Trigger: Appointment date − 4h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193791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Action: Send Email 4 (Day Of)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5742431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Action: PA notification — pre-show prep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017520"/>
            <a:ext cx="2880360" cy="3611880"/>
          </a:xfrm>
          <a:prstGeom prst="rect">
            <a:avLst/>
          </a:prstGeom>
          <a:solidFill>
            <a:srgbClr val="1A5C2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3017520"/>
            <a:ext cx="2880360" cy="475488"/>
          </a:xfrm>
          <a:prstGeom prst="rect">
            <a:avLst/>
          </a:prstGeom>
          <a:solidFill>
            <a:srgbClr val="337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30449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</a:rPr>
              <a:t>Workflow 3
Post-Show Delivery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59" y="3547872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Trigger: Appointment completed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59" y="4096511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Action: Move to 'Show Complete'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59" y="4645151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Action: PA task — send Email 5 within 1h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59" y="5193791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Action: Wait 24h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59" y="5742431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Action: PA task — send Email 6 (max 36h)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3017520"/>
            <a:ext cx="2880360" cy="3611880"/>
          </a:xfrm>
          <a:prstGeom prst="rect">
            <a:avLst/>
          </a:prstGeom>
          <a:solidFill>
            <a:srgbClr val="4A1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35440" y="3017520"/>
            <a:ext cx="2880360" cy="475488"/>
          </a:xfrm>
          <a:prstGeom prst="rect">
            <a:avLst/>
          </a:prstGeom>
          <a:solidFill>
            <a:srgbClr val="633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0" y="30449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</a:rPr>
              <a:t>Workflow 4
Audience Capture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3547872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Trigger: LinkedIn Live comment / reaction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4096511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Action: Add to Audience pipeline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0" y="4645151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Action: Tag with show + episode number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0" y="5193791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Action: Enroll in nurture if opted 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0" y="5742431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Action: Log engagement source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Master Email Sequence — Complete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From booking to 36 hours post-show · 8 possible emails per guest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11640312" cy="1645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216152"/>
            <a:ext cx="201168" cy="201168"/>
          </a:xfrm>
          <a:prstGeom prst="ellipse">
            <a:avLst/>
          </a:prstGeom>
          <a:solidFill>
            <a:srgbClr val="D9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1143000" cy="1188720"/>
          </a:xfrm>
          <a:prstGeom prst="rect">
            <a:avLst/>
          </a:prstGeom>
          <a:solidFill>
            <a:srgbClr val="D93B3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54480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NOT A
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17627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0F4FF"/>
                </a:solidFill>
              </a:rPr>
              <a:t>If fails
fit gate</a:t>
            </a:r>
          </a:p>
        </p:txBody>
      </p:sp>
      <p:sp>
        <p:nvSpPr>
          <p:cNvPr id="12" name="Oval 11"/>
          <p:cNvSpPr/>
          <p:nvPr/>
        </p:nvSpPr>
        <p:spPr>
          <a:xfrm>
            <a:off x="2011680" y="1216152"/>
            <a:ext cx="201168" cy="201168"/>
          </a:xfrm>
          <a:prstGeom prst="ellipse">
            <a:avLst/>
          </a:prstGeom>
          <a:solidFill>
            <a:srgbClr val="7A5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08760" y="1508760"/>
            <a:ext cx="1143000" cy="1188720"/>
          </a:xfrm>
          <a:prstGeom prst="rect">
            <a:avLst/>
          </a:prstGeom>
          <a:solidFill>
            <a:srgbClr val="7A5A0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1554480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T-14
ACTIV.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17627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0F4FF"/>
                </a:solidFill>
              </a:rPr>
              <a:t>Day of
booking
(or T-14)</a:t>
            </a:r>
          </a:p>
        </p:txBody>
      </p:sp>
      <p:sp>
        <p:nvSpPr>
          <p:cNvPr id="16" name="Oval 15"/>
          <p:cNvSpPr/>
          <p:nvPr/>
        </p:nvSpPr>
        <p:spPr>
          <a:xfrm>
            <a:off x="3520439" y="1216152"/>
            <a:ext cx="201168" cy="201168"/>
          </a:xfrm>
          <a:prstGeom prst="ellipse">
            <a:avLst/>
          </a:prstGeom>
          <a:solidFill>
            <a:srgbClr val="1A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17520" y="1508760"/>
            <a:ext cx="1143000" cy="1188720"/>
          </a:xfrm>
          <a:prstGeom prst="rect">
            <a:avLst/>
          </a:prstGeom>
          <a:solidFill>
            <a:srgbClr val="1A4B9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39" y="1554480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EMAIL
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39" y="217627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0F4FF"/>
                </a:solidFill>
              </a:rPr>
              <a:t>Event
published</a:t>
            </a:r>
          </a:p>
        </p:txBody>
      </p:sp>
      <p:sp>
        <p:nvSpPr>
          <p:cNvPr id="20" name="Oval 19"/>
          <p:cNvSpPr/>
          <p:nvPr/>
        </p:nvSpPr>
        <p:spPr>
          <a:xfrm>
            <a:off x="5166359" y="1216152"/>
            <a:ext cx="201168" cy="201168"/>
          </a:xfrm>
          <a:prstGeom prst="ellipse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1508760"/>
            <a:ext cx="1143000" cy="1188720"/>
          </a:xfrm>
          <a:prstGeom prst="rect">
            <a:avLst/>
          </a:prstGeom>
          <a:solidFill>
            <a:srgbClr val="1A5C2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59" y="1554480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EMAIL
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59" y="217627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0F4FF"/>
                </a:solidFill>
              </a:rPr>
              <a:t>T-7
days</a:t>
            </a:r>
          </a:p>
        </p:txBody>
      </p:sp>
      <p:sp>
        <p:nvSpPr>
          <p:cNvPr id="24" name="Oval 23"/>
          <p:cNvSpPr/>
          <p:nvPr/>
        </p:nvSpPr>
        <p:spPr>
          <a:xfrm>
            <a:off x="6720840" y="1216152"/>
            <a:ext cx="201168" cy="201168"/>
          </a:xfrm>
          <a:prstGeom prst="ellipse">
            <a:avLst/>
          </a:prstGeom>
          <a:solidFill>
            <a:srgbClr val="2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508760"/>
            <a:ext cx="1143000" cy="1188720"/>
          </a:xfrm>
          <a:prstGeom prst="rect">
            <a:avLst/>
          </a:prstGeom>
          <a:solidFill>
            <a:srgbClr val="2A1A5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554480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EMAIL
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17627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0F4FF"/>
                </a:solidFill>
              </a:rPr>
              <a:t>Day
before</a:t>
            </a:r>
          </a:p>
        </p:txBody>
      </p:sp>
      <p:sp>
        <p:nvSpPr>
          <p:cNvPr id="28" name="Oval 27"/>
          <p:cNvSpPr/>
          <p:nvPr/>
        </p:nvSpPr>
        <p:spPr>
          <a:xfrm>
            <a:off x="8183880" y="1216152"/>
            <a:ext cx="201168" cy="201168"/>
          </a:xfrm>
          <a:prstGeom prst="ellipse">
            <a:avLst/>
          </a:prstGeom>
          <a:solidFill>
            <a:srgbClr val="5C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680960" y="1508760"/>
            <a:ext cx="1143000" cy="1188720"/>
          </a:xfrm>
          <a:prstGeom prst="rect">
            <a:avLst/>
          </a:prstGeom>
          <a:solidFill>
            <a:srgbClr val="5C2A1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80" y="1554480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EMAIL
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217627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0F4FF"/>
                </a:solidFill>
              </a:rPr>
              <a:t>Morning
of show</a:t>
            </a:r>
          </a:p>
        </p:txBody>
      </p:sp>
      <p:sp>
        <p:nvSpPr>
          <p:cNvPr id="32" name="Oval 31"/>
          <p:cNvSpPr/>
          <p:nvPr/>
        </p:nvSpPr>
        <p:spPr>
          <a:xfrm>
            <a:off x="9646920" y="1216152"/>
            <a:ext cx="201168" cy="201168"/>
          </a:xfrm>
          <a:prstGeom prst="ellipse">
            <a:avLst/>
          </a:prstGeom>
          <a:solidFill>
            <a:srgbClr val="1E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0" y="1508760"/>
            <a:ext cx="1143000" cy="1188720"/>
          </a:xfrm>
          <a:prstGeom prst="rect">
            <a:avLst/>
          </a:prstGeom>
          <a:solidFill>
            <a:srgbClr val="1EA56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1554480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EMAIL
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217627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0F4FF"/>
                </a:solidFill>
              </a:rPr>
              <a:t>Within
1 hour</a:t>
            </a:r>
          </a:p>
        </p:txBody>
      </p:sp>
      <p:sp>
        <p:nvSpPr>
          <p:cNvPr id="36" name="Oval 35"/>
          <p:cNvSpPr/>
          <p:nvPr/>
        </p:nvSpPr>
        <p:spPr>
          <a:xfrm>
            <a:off x="11201400" y="1216152"/>
            <a:ext cx="201168" cy="201168"/>
          </a:xfrm>
          <a:prstGeom prst="ellipse">
            <a:avLst/>
          </a:prstGeom>
          <a:solidFill>
            <a:srgbClr val="4A1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698480" y="1508760"/>
            <a:ext cx="1143000" cy="1188720"/>
          </a:xfrm>
          <a:prstGeom prst="rect">
            <a:avLst/>
          </a:prstGeom>
          <a:solidFill>
            <a:srgbClr val="4A1A5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44200" y="1554480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EMAIL
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4200" y="217627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F0F4FF"/>
                </a:solidFill>
              </a:rPr>
              <a:t>24–36h
after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" y="2880360"/>
            <a:ext cx="1188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</a:rPr>
              <a:t>WHAT EACH EMAIL DELIVERS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3291840"/>
            <a:ext cx="11978640" cy="420624"/>
          </a:xfrm>
          <a:prstGeom prst="rect">
            <a:avLst/>
          </a:prstGeom>
          <a:solidFill>
            <a:srgbClr val="A73030"/>
          </a:solidFill>
          <a:ln w="6350">
            <a:solidFill>
              <a:srgbClr val="D9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334670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Not a Fit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3346704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Polite decline · [SHOW_NAME] · [FALLBACK_SHOW_LINKS]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3749039"/>
            <a:ext cx="11978640" cy="420624"/>
          </a:xfrm>
          <a:prstGeom prst="rect">
            <a:avLst/>
          </a:prstGeom>
          <a:solidFill>
            <a:srgbClr val="7D5F1D"/>
          </a:solidFill>
          <a:ln w="6350">
            <a:solidFill>
              <a:srgbClr val="A0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" y="3803903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T-14 Activation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4600" y="3803903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Booking confirmed · Connect on LinkedIn · Explain topic editing process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4206240"/>
            <a:ext cx="11978640" cy="420624"/>
          </a:xfrm>
          <a:prstGeom prst="rect">
            <a:avLst/>
          </a:prstGeom>
          <a:solidFill>
            <a:srgbClr val="183C7B"/>
          </a:solidFill>
          <a:ln w="6350">
            <a:solidFill>
              <a:srgbClr val="1A4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6032" y="4261103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Email 1 — Appearance Details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4261103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All episode details · Timing all 3 TZs · StreamYard link · All event URLs · LinkedIn invite walkthrough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663440"/>
            <a:ext cx="11978640" cy="420624"/>
          </a:xfrm>
          <a:prstGeom prst="rect">
            <a:avLst/>
          </a:prstGeom>
          <a:solidFill>
            <a:srgbClr val="184A24"/>
          </a:solidFill>
          <a:ln w="6350">
            <a:solidFill>
              <a:srgbClr val="1A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6032" y="4718303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Email 2 — One Week Out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14600" y="4718303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One-week reminder · LinkedIn event link · Invite connections walkthrough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5120640"/>
            <a:ext cx="11978640" cy="420624"/>
          </a:xfrm>
          <a:prstGeom prst="rect">
            <a:avLst/>
          </a:prstGeom>
          <a:solidFill>
            <a:srgbClr val="24184A"/>
          </a:solidFill>
          <a:ln w="6350">
            <a:solidFill>
              <a:srgbClr val="2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6032" y="5175503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Email 3 — Day Before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4600" y="5175503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Final prep · StreamYard link again · All timing · Past episodes link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5577840"/>
            <a:ext cx="11978640" cy="420624"/>
          </a:xfrm>
          <a:prstGeom prst="rect">
            <a:avLst/>
          </a:prstGeom>
          <a:solidFill>
            <a:srgbClr val="4A2418"/>
          </a:solidFill>
          <a:ln w="6350">
            <a:solidFill>
              <a:srgbClr val="5C2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032" y="5632703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Email 4 — Day Of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14600" y="5632703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Morning reminder · StreamYard link · Timing in all 3 TZs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2880" y="6035040"/>
            <a:ext cx="11978640" cy="420624"/>
          </a:xfrm>
          <a:prstGeom prst="rect">
            <a:avLst/>
          </a:prstGeom>
          <a:solidFill>
            <a:srgbClr val="1B8054"/>
          </a:solidFill>
          <a:ln w="6350">
            <a:solidFill>
              <a:srgbClr val="1EA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6032" y="6089903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Email 5 — Immediate Post-Show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14600" y="6089903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AI clips · Full recording · Transcript — within 1 HOUR of show end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6492240"/>
            <a:ext cx="11978640" cy="420624"/>
          </a:xfrm>
          <a:prstGeom prst="rect">
            <a:avLst/>
          </a:prstGeom>
          <a:solidFill>
            <a:srgbClr val="3C184A"/>
          </a:solidFill>
          <a:ln w="6350">
            <a:solidFill>
              <a:srgbClr val="4A1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6032" y="6547103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</a:rPr>
              <a:t>Email 6 — Assets 24–36h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14600" y="6547103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Human-edited clips · Podcast links · Replay URLs — max 36h SLA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Quick Reference — Rules, SLAs &amp; Common 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Print and post. These are the non-negotiables.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5303520" cy="5349240"/>
          </a:xfrm>
          <a:prstGeom prst="rect">
            <a:avLst/>
          </a:prstGeom>
          <a:solidFill>
            <a:srgbClr val="122A5C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HARD SLAs &amp;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830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A56B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Email 5: Within 1 HOUR of show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031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A56B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Email 6: Max 36 HOURS after show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4231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A56B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231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Calendar always set in Eastern Time (USA)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7432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A56B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432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Topics edited BEFORE appearing in any 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063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A56B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06324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Tier 2 complete BEFORE any email is 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383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A56B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38328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StreamYard link is FRESH per episode (never reuse)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7033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A56B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7033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Original booking submission preserved at bottom of calendar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02335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A56B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02335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Channel stack confirmed from Total Deliverables Doc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34339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A56B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4339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Check app.reveting.com DAILY — automations are unreliable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66343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66343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5,000+ followers = proceed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98347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98347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1,000–4,999 = confirm with Prod + Marketing Lead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530351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3B3B"/>
                </a:solidFill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30351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Below 1,000 = NO-GO unless no other option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562355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3B3B"/>
                </a:solidFill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62355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Never set calendar in guest's local timezone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594359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3B3B"/>
                </a:solidFill>
              </a:rP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94359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Never send raw topics from booking form to guest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26363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3B3B"/>
                </a:solidFill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26363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Never reuse StreamYard link from a prior episode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1280160"/>
            <a:ext cx="6309360" cy="5349240"/>
          </a:xfrm>
          <a:prstGeom prst="rect">
            <a:avLst/>
          </a:prstGeom>
          <a:solidFill>
            <a:srgbClr val="3A1010"/>
          </a:solidFill>
          <a:ln w="19050">
            <a:solidFill>
              <a:srgbClr val="D9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0" y="132588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3B3B"/>
                </a:solidFill>
              </a:rPr>
              <a:t>COMMON PITFALLS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1783080"/>
            <a:ext cx="6126480" cy="694944"/>
          </a:xfrm>
          <a:prstGeom prst="rect">
            <a:avLst/>
          </a:prstGeom>
          <a:solidFill>
            <a:srgbClr val="4A1010"/>
          </a:solidFill>
          <a:ln w="6350">
            <a:solidFill>
              <a:srgbClr val="D9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33872" y="1819656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93B3B"/>
                </a:solidFill>
              </a:rPr>
              <a:t>✗  Reusing the StreamYard guest link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3872" y="205740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Each guest needs a fresh link. Reused links can break or admit the wrong person.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2532888"/>
            <a:ext cx="6126480" cy="694944"/>
          </a:xfrm>
          <a:prstGeom prst="rect">
            <a:avLst/>
          </a:prstGeom>
          <a:solidFill>
            <a:srgbClr val="4A1010"/>
          </a:solidFill>
          <a:ln w="6350">
            <a:solidFill>
              <a:srgbClr val="D9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33872" y="2569464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93B3B"/>
                </a:solidFill>
              </a:rPr>
              <a:t>✗  Calendar time in guest's local timezone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33872" y="280720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All events MUST be in Eastern Time (USA). Most common error.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720" y="3282696"/>
            <a:ext cx="6126480" cy="694944"/>
          </a:xfrm>
          <a:prstGeom prst="rect">
            <a:avLst/>
          </a:prstGeom>
          <a:solidFill>
            <a:srgbClr val="4A1010"/>
          </a:solidFill>
          <a:ln w="6350">
            <a:solidFill>
              <a:srgbClr val="D9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33872" y="3319272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93B3B"/>
                </a:solidFill>
              </a:rPr>
              <a:t>✗  Skipping Tier 1 and winging it per episode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33872" y="3557015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Without locked show constants, variable errors compound. Do Tier 1 once, correctly.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60720" y="4032504"/>
            <a:ext cx="6126480" cy="694944"/>
          </a:xfrm>
          <a:prstGeom prst="rect">
            <a:avLst/>
          </a:prstGeom>
          <a:solidFill>
            <a:srgbClr val="4A1010"/>
          </a:solidFill>
          <a:ln w="6350">
            <a:solidFill>
              <a:srgbClr val="D9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33872" y="4069080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93B3B"/>
                </a:solidFill>
              </a:rPr>
              <a:t>✗  Raw topics in Email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33872" y="4306824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Topics from booking form are self-promotional and misaligned. Always edit to fit show strategy.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60720" y="4782312"/>
            <a:ext cx="6126480" cy="694944"/>
          </a:xfrm>
          <a:prstGeom prst="rect">
            <a:avLst/>
          </a:prstGeom>
          <a:solidFill>
            <a:srgbClr val="4A1010"/>
          </a:solidFill>
          <a:ln w="6350">
            <a:solidFill>
              <a:srgbClr val="D9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33872" y="4818888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93B3B"/>
                </a:solidFill>
              </a:rPr>
              <a:t>✗  Missing the Email 5 one-hour SLA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33872" y="505663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Immediate post-show is peak engagement. Delay kills clip sharing momentum.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720" y="5532120"/>
            <a:ext cx="6126480" cy="694944"/>
          </a:xfrm>
          <a:prstGeom prst="rect">
            <a:avLst/>
          </a:prstGeom>
          <a:solidFill>
            <a:srgbClr val="4A1010"/>
          </a:solidFill>
          <a:ln w="6350">
            <a:solidFill>
              <a:srgbClr val="D9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33872" y="5568696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93B3B"/>
                </a:solidFill>
              </a:rPr>
              <a:t>✗  Removing original booking from calendar description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33872" y="58064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The original submission is the audit trail. Keep it at the bottom — always.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720" y="6281928"/>
            <a:ext cx="6126480" cy="694944"/>
          </a:xfrm>
          <a:prstGeom prst="rect">
            <a:avLst/>
          </a:prstGeom>
          <a:solidFill>
            <a:srgbClr val="4A1010"/>
          </a:solidFill>
          <a:ln w="6350">
            <a:solidFill>
              <a:srgbClr val="D9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33872" y="6318504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93B3B"/>
                </a:solidFill>
              </a:rPr>
              <a:t>✗  Not checking app.reveting.com daily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33872" y="655624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Automations fail silently. Manual daily check in Calendars → Appointment List 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Reveting Skill System — Complete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5 interconnected skills in the gtm-skills repository power the full Reveting production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1768" y="3520439"/>
            <a:ext cx="2194560" cy="822960"/>
          </a:xfrm>
          <a:prstGeom prst="rect">
            <a:avLst/>
          </a:prstGeom>
          <a:solidFill>
            <a:srgbClr val="F5A62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1768" y="3657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D1B3E"/>
                </a:solidFill>
              </a:rPr>
              <a:t>reveting-show-setup
(MASTER VARIABLES)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1097280"/>
            <a:ext cx="2468880" cy="1463040"/>
          </a:xfrm>
          <a:prstGeom prst="rect">
            <a:avLst/>
          </a:prstGeom>
          <a:solidFill>
            <a:srgbClr val="1A4B9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19" y="11704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A623"/>
                </a:solidFill>
              </a:rPr>
              <a:t>reveting-email-flows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" y="1536192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T-14 Activation
Emails 1–6
Not a Fit
7 email templates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80" y="1097280"/>
            <a:ext cx="2468880" cy="1463040"/>
          </a:xfrm>
          <a:prstGeom prst="rect">
            <a:avLst/>
          </a:prstGeom>
          <a:solidFill>
            <a:srgbClr val="1A5C2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1704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A623"/>
                </a:solidFill>
              </a:rPr>
              <a:t>reveting-calendar-flows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1536192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Show slot architecture
Guest booking page
6-touch reminder seq.
No-show recovery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79" y="4846320"/>
            <a:ext cx="2468880" cy="1463040"/>
          </a:xfrm>
          <a:prstGeom prst="rect">
            <a:avLst/>
          </a:prstGeom>
          <a:solidFill>
            <a:srgbClr val="4A1A5C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19" y="49194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A623"/>
                </a:solidFill>
              </a:rPr>
              <a:t>reveting-ghl-workflows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19" y="5285231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Guest pipeline
6-stage CRM
4 automation workflows
GHL custom fields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80" y="4846320"/>
            <a:ext cx="2468880" cy="1463040"/>
          </a:xfrm>
          <a:prstGeom prst="rect">
            <a:avLst/>
          </a:prstGeom>
          <a:solidFill>
            <a:srgbClr val="5C2A1A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49194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A623"/>
                </a:solidFill>
              </a:rPr>
              <a:t>reveting-streamyard-flows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5285231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0F4FF"/>
                </a:solidFill>
              </a:rPr>
              <a:t>Brand scene library
Guest invite flows
Multi-destination live
Recording handoff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64465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A9BB5"/>
                </a:solidFill>
              </a:rPr>
              <a:t>All 5 skills are in /skills/inbound/ in the gtm-skills repository · Load reveting-show-setup first to establish Tier 1 variables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